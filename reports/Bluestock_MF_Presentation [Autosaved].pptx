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snapToObjects="1">
      <p:cViewPr varScale="1">
        <p:scale>
          <a:sx n="84" d="100"/>
          <a:sy n="84" d="100"/>
        </p:scale>
        <p:origin x="145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ADB270-CAAC-4835-BBDB-F1D4E48E1970}" type="datetimeFigureOut">
              <a:rPr lang="en-US" smtClean="0"/>
              <a:t>6/13/2026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0B243B-2FBB-48B4-84FD-29E71A5ADBEA}" type="slidenum">
              <a:rPr lang="en-US" smtClean="0"/>
              <a:t>‹#›</a:t>
            </a:fld>
            <a:endParaRPr lang="en-US"/>
          </a:p>
        </p:txBody>
      </p:sp>
    </p:spTree>
    <p:extLst>
      <p:ext uri="{BB962C8B-B14F-4D97-AF65-F5344CB8AC3E}">
        <p14:creationId xmlns:p14="http://schemas.microsoft.com/office/powerpoint/2010/main" val="1539347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EDA phase helped identify major industry trends. Assets under Management and SIP contributions both exhibited strong growth patterns, indicating increasing participation in mutual fund investments. These findings established the foundation for subsequent risk analysis and performance evaluation."</a:t>
            </a:r>
          </a:p>
          <a:p>
            <a:endParaRPr lang="en-US" dirty="0"/>
          </a:p>
        </p:txBody>
      </p:sp>
      <p:sp>
        <p:nvSpPr>
          <p:cNvPr id="4" name="Slide Number Placeholder 3"/>
          <p:cNvSpPr>
            <a:spLocks noGrp="1"/>
          </p:cNvSpPr>
          <p:nvPr>
            <p:ph type="sldNum" sz="quarter" idx="5"/>
          </p:nvPr>
        </p:nvSpPr>
        <p:spPr/>
        <p:txBody>
          <a:bodyPr/>
          <a:lstStyle/>
          <a:p>
            <a:fld id="{AC0B243B-2FBB-48B4-84FD-29E71A5ADBEA}" type="slidenum">
              <a:rPr lang="en-US" smtClean="0"/>
              <a:t>5</a:t>
            </a:fld>
            <a:endParaRPr lang="en-US"/>
          </a:p>
        </p:txBody>
      </p:sp>
    </p:spTree>
    <p:extLst>
      <p:ext uri="{BB962C8B-B14F-4D97-AF65-F5344CB8AC3E}">
        <p14:creationId xmlns:p14="http://schemas.microsoft.com/office/powerpoint/2010/main" val="12710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Industry AUM and SIP inflows showed strong long-term growth.</a:t>
            </a:r>
          </a:p>
          <a:p>
            <a:endParaRPr lang="en-US" dirty="0"/>
          </a:p>
          <a:p>
            <a:r>
              <a:rPr lang="en-US" dirty="0"/>
              <a:t>• Risk-adjusted performance varied significantly across schemes.</a:t>
            </a:r>
          </a:p>
          <a:p>
            <a:endParaRPr lang="en-US" dirty="0"/>
          </a:p>
          <a:p>
            <a:r>
              <a:rPr lang="en-US" dirty="0"/>
              <a:t>• Volatility was the strongest predictor of future returns.</a:t>
            </a:r>
          </a:p>
          <a:p>
            <a:endParaRPr lang="en-US" dirty="0"/>
          </a:p>
          <a:p>
            <a:r>
              <a:rPr lang="en-US" dirty="0"/>
              <a:t>• Monte Carlo simulation provided useful forecasting scenarios.</a:t>
            </a:r>
          </a:p>
          <a:p>
            <a:endParaRPr lang="en-US" dirty="0"/>
          </a:p>
          <a:p>
            <a:r>
              <a:rPr lang="en-US" dirty="0"/>
              <a:t>• Portfolio diversification improved risk-adjusted returns and reduced concentration risk.</a:t>
            </a:r>
          </a:p>
        </p:txBody>
      </p:sp>
      <p:sp>
        <p:nvSpPr>
          <p:cNvPr id="4" name="Slide Number Placeholder 3"/>
          <p:cNvSpPr>
            <a:spLocks noGrp="1"/>
          </p:cNvSpPr>
          <p:nvPr>
            <p:ph type="sldNum" sz="quarter" idx="5"/>
          </p:nvPr>
        </p:nvSpPr>
        <p:spPr/>
        <p:txBody>
          <a:bodyPr/>
          <a:lstStyle/>
          <a:p>
            <a:fld id="{AC0B243B-2FBB-48B4-84FD-29E71A5ADBEA}" type="slidenum">
              <a:rPr lang="en-US" smtClean="0"/>
              <a:t>11</a:t>
            </a:fld>
            <a:endParaRPr lang="en-US"/>
          </a:p>
        </p:txBody>
      </p:sp>
    </p:spTree>
    <p:extLst>
      <p:ext uri="{BB962C8B-B14F-4D97-AF65-F5344CB8AC3E}">
        <p14:creationId xmlns:p14="http://schemas.microsoft.com/office/powerpoint/2010/main" val="348275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5.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jp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4" Type="http://schemas.openxmlformats.org/officeDocument/2006/relationships/image" Target="../media/image1.jp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latin typeface="Times New Roman" panose="02020603050405020304" pitchFamily="18" charset="0"/>
                <a:cs typeface="Times New Roman" panose="02020603050405020304" pitchFamily="18" charset="0"/>
              </a:rPr>
              <a:t>Mutual Fund Analytics Platform</a:t>
            </a:r>
          </a:p>
        </p:txBody>
      </p:sp>
      <p:sp>
        <p:nvSpPr>
          <p:cNvPr id="3" name="Subtitle 2"/>
          <p:cNvSpPr>
            <a:spLocks noGrp="1"/>
          </p:cNvSpPr>
          <p:nvPr>
            <p:ph type="subTitle" idx="1"/>
          </p:nvPr>
        </p:nvSpPr>
        <p:spPr/>
        <p:txBody>
          <a:bodyPr/>
          <a:lstStyle/>
          <a:p>
            <a:r>
              <a:rPr>
                <a:latin typeface="Times New Roman" panose="02020603050405020304" pitchFamily="18" charset="0"/>
                <a:cs typeface="Times New Roman" panose="02020603050405020304" pitchFamily="18" charset="0"/>
              </a:rPr>
              <a:t>Capstone Project – Bluestock Fintech Pvt. Ltd.</a:t>
            </a:r>
          </a:p>
          <a:p>
            <a:r>
              <a:rPr>
                <a:latin typeface="Times New Roman" panose="02020603050405020304" pitchFamily="18" charset="0"/>
                <a:cs typeface="Times New Roman" panose="02020603050405020304" pitchFamily="18" charset="0"/>
              </a:rPr>
              <a:t>Submitted by: Anushka Das</a:t>
            </a:r>
          </a:p>
        </p:txBody>
      </p:sp>
      <p:pic>
        <p:nvPicPr>
          <p:cNvPr id="5" name="Picture 4">
            <a:extLst>
              <a:ext uri="{FF2B5EF4-FFF2-40B4-BE49-F238E27FC236}">
                <a16:creationId xmlns:a16="http://schemas.microsoft.com/office/drawing/2014/main" id="{315CB92B-9862-5ACF-994D-ECC7886405A6}"/>
              </a:ext>
            </a:extLst>
          </p:cNvPr>
          <p:cNvPicPr>
            <a:picLocks noChangeAspect="1"/>
          </p:cNvPicPr>
          <p:nvPr/>
        </p:nvPicPr>
        <p:blipFill>
          <a:blip r:embed="rId2"/>
          <a:stretch>
            <a:fillRect/>
          </a:stretch>
        </p:blipFill>
        <p:spPr>
          <a:xfrm>
            <a:off x="8156448" y="0"/>
            <a:ext cx="987552" cy="9875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872" y="236935"/>
            <a:ext cx="8229600" cy="1143000"/>
          </a:xfrm>
        </p:spPr>
        <p:txBody>
          <a:bodyPr/>
          <a:lstStyle/>
          <a:p>
            <a:r>
              <a:rPr dirty="0">
                <a:latin typeface="Times New Roman" panose="02020603050405020304" pitchFamily="18" charset="0"/>
                <a:cs typeface="Times New Roman" panose="02020603050405020304" pitchFamily="18" charset="0"/>
              </a:rPr>
              <a:t>Problem Statement &amp; Objectives</a:t>
            </a:r>
          </a:p>
        </p:txBody>
      </p:sp>
      <p:sp>
        <p:nvSpPr>
          <p:cNvPr id="5" name="Text Placeholder 4">
            <a:extLst>
              <a:ext uri="{FF2B5EF4-FFF2-40B4-BE49-F238E27FC236}">
                <a16:creationId xmlns:a16="http://schemas.microsoft.com/office/drawing/2014/main" id="{DBE0421C-EE40-1831-C0A8-E63AB5CDC6F9}"/>
              </a:ext>
            </a:extLst>
          </p:cNvPr>
          <p:cNvSpPr>
            <a:spLocks noGrp="1"/>
          </p:cNvSpPr>
          <p:nvPr>
            <p:ph type="body" idx="1"/>
          </p:nvPr>
        </p:nvSpPr>
        <p:spPr/>
        <p:txBody>
          <a:bodyPr>
            <a:normAutofit/>
          </a:bodyPr>
          <a:lstStyle/>
          <a:p>
            <a:r>
              <a:rPr lang="en-US"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sz="half" idx="2"/>
          </p:nvPr>
        </p:nvSpPr>
        <p:spPr/>
        <p:txBody>
          <a:bodyPr/>
          <a:lstStyle/>
          <a:p>
            <a:r>
              <a:rPr lang="en-US" dirty="0">
                <a:latin typeface="Times New Roman" panose="02020603050405020304" pitchFamily="18" charset="0"/>
                <a:cs typeface="Times New Roman" panose="02020603050405020304" pitchFamily="18" charset="0"/>
              </a:rPr>
              <a:t>Investors struggle to evaluate mutual fund performance.</a:t>
            </a:r>
          </a:p>
          <a:p>
            <a:r>
              <a:rPr lang="en-US" dirty="0">
                <a:latin typeface="Times New Roman" panose="02020603050405020304" pitchFamily="18" charset="0"/>
                <a:cs typeface="Times New Roman" panose="02020603050405020304" pitchFamily="18" charset="0"/>
              </a:rPr>
              <a:t>Risk and return metrics are difficult to interpret.</a:t>
            </a:r>
          </a:p>
          <a:p>
            <a:r>
              <a:rPr lang="en-US" dirty="0">
                <a:latin typeface="Times New Roman" panose="02020603050405020304" pitchFamily="18" charset="0"/>
                <a:cs typeface="Times New Roman" panose="02020603050405020304" pitchFamily="18" charset="0"/>
              </a:rPr>
              <a:t>Data exists across multiple sources.</a:t>
            </a:r>
          </a:p>
          <a:p>
            <a:r>
              <a:rPr lang="en-US" dirty="0">
                <a:latin typeface="Times New Roman" panose="02020603050405020304" pitchFamily="18" charset="0"/>
                <a:cs typeface="Times New Roman" panose="02020603050405020304" pitchFamily="18" charset="0"/>
              </a:rPr>
              <a:t>Need for a unified analytics platform.</a:t>
            </a:r>
            <a:endParaRPr dirty="0">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a16="http://schemas.microsoft.com/office/drawing/2014/main" id="{F89DE0E4-5873-BF6A-1D38-BED67749DDEB}"/>
              </a:ext>
            </a:extLst>
          </p:cNvPr>
          <p:cNvSpPr>
            <a:spLocks noGrp="1"/>
          </p:cNvSpPr>
          <p:nvPr>
            <p:ph type="body" sz="quarter" idx="3"/>
          </p:nvPr>
        </p:nvSpPr>
        <p:spPr/>
        <p:txBody>
          <a:bodyPr>
            <a:normAutofit/>
          </a:bodyPr>
          <a:lstStyle/>
          <a:p>
            <a:r>
              <a:rPr lang="en-US" dirty="0">
                <a:latin typeface="Times New Roman" panose="02020603050405020304" pitchFamily="18" charset="0"/>
                <a:cs typeface="Times New Roman" panose="02020603050405020304" pitchFamily="18" charset="0"/>
              </a:rPr>
              <a:t>Objectives</a:t>
            </a:r>
          </a:p>
        </p:txBody>
      </p:sp>
      <p:sp>
        <p:nvSpPr>
          <p:cNvPr id="7" name="Content Placeholder 6">
            <a:extLst>
              <a:ext uri="{FF2B5EF4-FFF2-40B4-BE49-F238E27FC236}">
                <a16:creationId xmlns:a16="http://schemas.microsoft.com/office/drawing/2014/main" id="{B625C379-E8E8-8052-2F44-81C61E6435A2}"/>
              </a:ext>
            </a:extLst>
          </p:cNvPr>
          <p:cNvSpPr>
            <a:spLocks noGrp="1"/>
          </p:cNvSpPr>
          <p:nvPr>
            <p:ph sz="quarter" idx="4"/>
          </p:nvPr>
        </p:nvSpPr>
        <p:spPr>
          <a:xfrm>
            <a:off x="4645025" y="2092579"/>
            <a:ext cx="4041775" cy="3951288"/>
          </a:xfrm>
        </p:spPr>
        <p:txBody>
          <a:bodyPr/>
          <a:lstStyle/>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Build ETL Pipeline</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Perform EDA</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Calculate Risk Metrics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Create Dashboards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Investor Analytics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Benchmark Comparison</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Advanced Analytics</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28" name="Graphic 27" descr="Upward trend with solid fill">
            <a:extLst>
              <a:ext uri="{FF2B5EF4-FFF2-40B4-BE49-F238E27FC236}">
                <a16:creationId xmlns:a16="http://schemas.microsoft.com/office/drawing/2014/main" id="{57157284-4119-490D-8121-5BEF6D96ACD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9563" y="5668962"/>
            <a:ext cx="914400" cy="914400"/>
          </a:xfrm>
          <a:prstGeom prst="rect">
            <a:avLst/>
          </a:prstGeom>
        </p:spPr>
      </p:pic>
      <p:pic>
        <p:nvPicPr>
          <p:cNvPr id="30" name="Graphic 29" descr="Bank with solid fill">
            <a:extLst>
              <a:ext uri="{FF2B5EF4-FFF2-40B4-BE49-F238E27FC236}">
                <a16:creationId xmlns:a16="http://schemas.microsoft.com/office/drawing/2014/main" id="{263BE0D4-1AE4-4E67-16B3-453C7970A1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56613" y="1297909"/>
            <a:ext cx="914400" cy="914400"/>
          </a:xfrm>
          <a:prstGeom prst="rect">
            <a:avLst/>
          </a:prstGeom>
        </p:spPr>
      </p:pic>
      <p:pic>
        <p:nvPicPr>
          <p:cNvPr id="4" name="Picture 3">
            <a:extLst>
              <a:ext uri="{FF2B5EF4-FFF2-40B4-BE49-F238E27FC236}">
                <a16:creationId xmlns:a16="http://schemas.microsoft.com/office/drawing/2014/main" id="{840E2803-598C-82EA-D2A5-687F0EA33A5B}"/>
              </a:ext>
            </a:extLst>
          </p:cNvPr>
          <p:cNvPicPr>
            <a:picLocks noChangeAspect="1"/>
          </p:cNvPicPr>
          <p:nvPr/>
        </p:nvPicPr>
        <p:blipFill>
          <a:blip r:embed="rId4"/>
          <a:stretch>
            <a:fillRect/>
          </a:stretch>
        </p:blipFill>
        <p:spPr>
          <a:xfrm>
            <a:off x="8156448" y="0"/>
            <a:ext cx="987552" cy="98755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Sources &amp; Project Scale</a:t>
            </a:r>
          </a:p>
        </p:txBody>
      </p:sp>
      <p:sp>
        <p:nvSpPr>
          <p:cNvPr id="4" name="Text Placeholder 3">
            <a:extLst>
              <a:ext uri="{FF2B5EF4-FFF2-40B4-BE49-F238E27FC236}">
                <a16:creationId xmlns:a16="http://schemas.microsoft.com/office/drawing/2014/main" id="{F6FCB376-D252-A386-10F2-E2178B6EDC28}"/>
              </a:ext>
            </a:extLst>
          </p:cNvPr>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KPI Cards</a:t>
            </a:r>
          </a:p>
        </p:txBody>
      </p:sp>
      <p:graphicFrame>
        <p:nvGraphicFramePr>
          <p:cNvPr id="7" name="Content Placeholder 6">
            <a:extLst>
              <a:ext uri="{FF2B5EF4-FFF2-40B4-BE49-F238E27FC236}">
                <a16:creationId xmlns:a16="http://schemas.microsoft.com/office/drawing/2014/main" id="{CE95EF84-8D29-E377-7C35-7841623CBB14}"/>
              </a:ext>
            </a:extLst>
          </p:cNvPr>
          <p:cNvGraphicFramePr>
            <a:graphicFrameLocks noGrp="1"/>
          </p:cNvGraphicFramePr>
          <p:nvPr>
            <p:ph sz="half" idx="2"/>
            <p:extLst>
              <p:ext uri="{D42A27DB-BD31-4B8C-83A1-F6EECF244321}">
                <p14:modId xmlns:p14="http://schemas.microsoft.com/office/powerpoint/2010/main" val="3457316342"/>
              </p:ext>
            </p:extLst>
          </p:nvPr>
        </p:nvGraphicFramePr>
        <p:xfrm>
          <a:off x="457200" y="2174874"/>
          <a:ext cx="4040188" cy="3951285"/>
        </p:xfrm>
        <a:graphic>
          <a:graphicData uri="http://schemas.openxmlformats.org/drawingml/2006/table">
            <a:tbl>
              <a:tblPr firstRow="1" bandRow="1">
                <a:tableStyleId>{5C22544A-7EE6-4342-B048-85BDC9FD1C3A}</a:tableStyleId>
              </a:tblPr>
              <a:tblGrid>
                <a:gridCol w="2020094">
                  <a:extLst>
                    <a:ext uri="{9D8B030D-6E8A-4147-A177-3AD203B41FA5}">
                      <a16:colId xmlns:a16="http://schemas.microsoft.com/office/drawing/2014/main" val="1191912928"/>
                    </a:ext>
                  </a:extLst>
                </a:gridCol>
                <a:gridCol w="2020094">
                  <a:extLst>
                    <a:ext uri="{9D8B030D-6E8A-4147-A177-3AD203B41FA5}">
                      <a16:colId xmlns:a16="http://schemas.microsoft.com/office/drawing/2014/main" val="3990644091"/>
                    </a:ext>
                  </a:extLst>
                </a:gridCol>
              </a:tblGrid>
              <a:tr h="790257">
                <a:tc>
                  <a:txBody>
                    <a:bodyPr/>
                    <a:lstStyle/>
                    <a:p>
                      <a:pPr algn="ctr"/>
                      <a:r>
                        <a:rPr lang="en-US" sz="2400" dirty="0"/>
                        <a:t>Metric</a:t>
                      </a:r>
                      <a:endParaRPr lang="en-US" dirty="0"/>
                    </a:p>
                  </a:txBody>
                  <a:tcPr/>
                </a:tc>
                <a:tc>
                  <a:txBody>
                    <a:bodyPr/>
                    <a:lstStyle/>
                    <a:p>
                      <a:pPr algn="ctr"/>
                      <a:r>
                        <a:rPr lang="en-US" sz="2400" dirty="0"/>
                        <a:t>Value</a:t>
                      </a:r>
                    </a:p>
                  </a:txBody>
                  <a:tcPr/>
                </a:tc>
                <a:extLst>
                  <a:ext uri="{0D108BD9-81ED-4DB2-BD59-A6C34878D82A}">
                    <a16:rowId xmlns:a16="http://schemas.microsoft.com/office/drawing/2014/main" val="3376351174"/>
                  </a:ext>
                </a:extLst>
              </a:tr>
              <a:tr h="790257">
                <a:tc>
                  <a:txBody>
                    <a:bodyPr/>
                    <a:lstStyle/>
                    <a:p>
                      <a:r>
                        <a:rPr lang="en-US" dirty="0"/>
                        <a:t>Total Datasets</a:t>
                      </a:r>
                    </a:p>
                  </a:txBody>
                  <a:tcPr/>
                </a:tc>
                <a:tc>
                  <a:txBody>
                    <a:bodyPr/>
                    <a:lstStyle/>
                    <a:p>
                      <a:r>
                        <a:rPr lang="en-US" dirty="0"/>
                        <a:t>10</a:t>
                      </a:r>
                    </a:p>
                  </a:txBody>
                  <a:tcPr/>
                </a:tc>
                <a:extLst>
                  <a:ext uri="{0D108BD9-81ED-4DB2-BD59-A6C34878D82A}">
                    <a16:rowId xmlns:a16="http://schemas.microsoft.com/office/drawing/2014/main" val="3110954767"/>
                  </a:ext>
                </a:extLst>
              </a:tr>
              <a:tr h="790257">
                <a:tc>
                  <a:txBody>
                    <a:bodyPr/>
                    <a:lstStyle/>
                    <a:p>
                      <a:r>
                        <a:rPr lang="en-US" dirty="0"/>
                        <a:t>NAV Records</a:t>
                      </a:r>
                    </a:p>
                  </a:txBody>
                  <a:tcPr/>
                </a:tc>
                <a:tc>
                  <a:txBody>
                    <a:bodyPr/>
                    <a:lstStyle/>
                    <a:p>
                      <a:r>
                        <a:rPr lang="en-US" dirty="0"/>
                        <a:t>46,000+</a:t>
                      </a:r>
                    </a:p>
                  </a:txBody>
                  <a:tcPr/>
                </a:tc>
                <a:extLst>
                  <a:ext uri="{0D108BD9-81ED-4DB2-BD59-A6C34878D82A}">
                    <a16:rowId xmlns:a16="http://schemas.microsoft.com/office/drawing/2014/main" val="1089601200"/>
                  </a:ext>
                </a:extLst>
              </a:tr>
              <a:tr h="790257">
                <a:tc>
                  <a:txBody>
                    <a:bodyPr/>
                    <a:lstStyle/>
                    <a:p>
                      <a:r>
                        <a:rPr lang="en-US" dirty="0"/>
                        <a:t>Investor Transactions</a:t>
                      </a:r>
                    </a:p>
                  </a:txBody>
                  <a:tcPr/>
                </a:tc>
                <a:tc>
                  <a:txBody>
                    <a:bodyPr/>
                    <a:lstStyle/>
                    <a:p>
                      <a:r>
                        <a:rPr lang="en-US" dirty="0"/>
                        <a:t>32,000+</a:t>
                      </a:r>
                    </a:p>
                  </a:txBody>
                  <a:tcPr/>
                </a:tc>
                <a:extLst>
                  <a:ext uri="{0D108BD9-81ED-4DB2-BD59-A6C34878D82A}">
                    <a16:rowId xmlns:a16="http://schemas.microsoft.com/office/drawing/2014/main" val="3633901359"/>
                  </a:ext>
                </a:extLst>
              </a:tr>
              <a:tr h="790257">
                <a:tc>
                  <a:txBody>
                    <a:bodyPr/>
                    <a:lstStyle/>
                    <a:p>
                      <a:r>
                        <a:rPr lang="en-US" dirty="0"/>
                        <a:t>Investors</a:t>
                      </a:r>
                    </a:p>
                  </a:txBody>
                  <a:tcPr/>
                </a:tc>
                <a:tc>
                  <a:txBody>
                    <a:bodyPr/>
                    <a:lstStyle/>
                    <a:p>
                      <a:r>
                        <a:rPr lang="en-US" dirty="0"/>
                        <a:t>5,000</a:t>
                      </a:r>
                    </a:p>
                  </a:txBody>
                  <a:tcPr/>
                </a:tc>
                <a:extLst>
                  <a:ext uri="{0D108BD9-81ED-4DB2-BD59-A6C34878D82A}">
                    <a16:rowId xmlns:a16="http://schemas.microsoft.com/office/drawing/2014/main" val="48566910"/>
                  </a:ext>
                </a:extLst>
              </a:tr>
            </a:tbl>
          </a:graphicData>
        </a:graphic>
      </p:graphicFrame>
      <p:sp>
        <p:nvSpPr>
          <p:cNvPr id="5" name="Text Placeholder 4">
            <a:extLst>
              <a:ext uri="{FF2B5EF4-FFF2-40B4-BE49-F238E27FC236}">
                <a16:creationId xmlns:a16="http://schemas.microsoft.com/office/drawing/2014/main" id="{340BDFB3-379B-8711-3619-FC480BE641BC}"/>
              </a:ext>
            </a:extLst>
          </p:cNvPr>
          <p:cNvSpPr>
            <a:spLocks noGrp="1"/>
          </p:cNvSpPr>
          <p:nvPr>
            <p:ph type="body" sz="quarter" idx="3"/>
          </p:nvPr>
        </p:nvSpPr>
        <p:spPr/>
        <p:txBody>
          <a:bodyPr/>
          <a:lstStyle/>
          <a:p>
            <a:r>
              <a:rPr lang="en-US" dirty="0">
                <a:latin typeface="Times New Roman" panose="02020603050405020304" pitchFamily="18" charset="0"/>
                <a:cs typeface="Times New Roman" panose="02020603050405020304" pitchFamily="18" charset="0"/>
              </a:rPr>
              <a:t>Data Sources and Coverage</a:t>
            </a:r>
          </a:p>
        </p:txBody>
      </p:sp>
      <p:sp>
        <p:nvSpPr>
          <p:cNvPr id="6" name="Content Placeholder 5">
            <a:extLst>
              <a:ext uri="{FF2B5EF4-FFF2-40B4-BE49-F238E27FC236}">
                <a16:creationId xmlns:a16="http://schemas.microsoft.com/office/drawing/2014/main" id="{6C308D4B-05B4-54F4-6AED-0E73FACFF51C}"/>
              </a:ext>
            </a:extLst>
          </p:cNvPr>
          <p:cNvSpPr>
            <a:spLocks noGrp="1"/>
          </p:cNvSpPr>
          <p:nvPr>
            <p:ph sz="quarter" idx="4"/>
          </p:nvPr>
        </p:nvSpPr>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Primary Data Sources</a:t>
            </a:r>
          </a:p>
          <a:p>
            <a:pPr marL="0" indent="0">
              <a:buNone/>
            </a:pPr>
            <a:r>
              <a:rPr lang="en-US" dirty="0">
                <a:latin typeface="Times New Roman" panose="02020603050405020304" pitchFamily="18" charset="0"/>
                <a:cs typeface="Times New Roman" panose="02020603050405020304" pitchFamily="18" charset="0"/>
              </a:rPr>
              <a:t>• AMFI India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mfapi.in API</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Benchmark Indices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Investor Transaction Data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Portfolio Holdings Data</a:t>
            </a:r>
          </a:p>
          <a:p>
            <a:pPr marL="0" indent="0">
              <a:buNone/>
            </a:pPr>
            <a:r>
              <a:rPr lang="en-US" dirty="0">
                <a:latin typeface="Times New Roman" panose="02020603050405020304" pitchFamily="18" charset="0"/>
                <a:cs typeface="Times New Roman" panose="02020603050405020304" pitchFamily="18" charset="0"/>
              </a:rPr>
              <a:t>Project Coverage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40 Mutual Fund Schemes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10 Asset Management Companies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12 Indian States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4+ Years Historical Data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Multiple Benchmark Indices</a:t>
            </a:r>
          </a:p>
        </p:txBody>
      </p:sp>
      <p:pic>
        <p:nvPicPr>
          <p:cNvPr id="3" name="Picture 2">
            <a:extLst>
              <a:ext uri="{FF2B5EF4-FFF2-40B4-BE49-F238E27FC236}">
                <a16:creationId xmlns:a16="http://schemas.microsoft.com/office/drawing/2014/main" id="{2E9B33A8-A8BD-61B0-754A-01EF3468A2BC}"/>
              </a:ext>
            </a:extLst>
          </p:cNvPr>
          <p:cNvPicPr>
            <a:picLocks noChangeAspect="1"/>
          </p:cNvPicPr>
          <p:nvPr/>
        </p:nvPicPr>
        <p:blipFill>
          <a:blip r:embed="rId2"/>
          <a:stretch>
            <a:fillRect/>
          </a:stretch>
        </p:blipFill>
        <p:spPr>
          <a:xfrm>
            <a:off x="8156448" y="0"/>
            <a:ext cx="987552" cy="9875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Times New Roman" panose="02020603050405020304" pitchFamily="18" charset="0"/>
                <a:cs typeface="Times New Roman" panose="02020603050405020304" pitchFamily="18" charset="0"/>
              </a:rPr>
              <a:t>System Architecture &amp; ETL</a:t>
            </a:r>
          </a:p>
        </p:txBody>
      </p:sp>
      <p:pic>
        <p:nvPicPr>
          <p:cNvPr id="5" name="Content Placeholder 4">
            <a:extLst>
              <a:ext uri="{FF2B5EF4-FFF2-40B4-BE49-F238E27FC236}">
                <a16:creationId xmlns:a16="http://schemas.microsoft.com/office/drawing/2014/main" id="{BA45BEB5-89FD-3480-2D50-2431FAA89DE1}"/>
              </a:ext>
            </a:extLst>
          </p:cNvPr>
          <p:cNvPicPr>
            <a:picLocks noGrp="1" noChangeAspect="1"/>
          </p:cNvPicPr>
          <p:nvPr>
            <p:ph idx="1"/>
          </p:nvPr>
        </p:nvPicPr>
        <p:blipFill>
          <a:blip r:embed="rId2"/>
          <a:stretch>
            <a:fillRect/>
          </a:stretch>
        </p:blipFill>
        <p:spPr>
          <a:xfrm>
            <a:off x="1889760" y="1600200"/>
            <a:ext cx="5364480" cy="4800600"/>
          </a:xfrm>
          <a:prstGeom prst="rect">
            <a:avLst/>
          </a:prstGeom>
        </p:spPr>
      </p:pic>
      <p:pic>
        <p:nvPicPr>
          <p:cNvPr id="3" name="Picture 2">
            <a:extLst>
              <a:ext uri="{FF2B5EF4-FFF2-40B4-BE49-F238E27FC236}">
                <a16:creationId xmlns:a16="http://schemas.microsoft.com/office/drawing/2014/main" id="{7CB1B9E1-FDE1-BD64-66C1-C61E60069324}"/>
              </a:ext>
            </a:extLst>
          </p:cNvPr>
          <p:cNvPicPr>
            <a:picLocks noChangeAspect="1"/>
          </p:cNvPicPr>
          <p:nvPr/>
        </p:nvPicPr>
        <p:blipFill>
          <a:blip r:embed="rId3"/>
          <a:stretch>
            <a:fillRect/>
          </a:stretch>
        </p:blipFill>
        <p:spPr>
          <a:xfrm>
            <a:off x="8156448" y="0"/>
            <a:ext cx="987552" cy="9875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7536" y="195708"/>
            <a:ext cx="8229600" cy="1143000"/>
          </a:xfrm>
        </p:spPr>
        <p:txBody>
          <a:bodyPr/>
          <a:lstStyle/>
          <a:p>
            <a:r>
              <a:rPr lang="en-US" dirty="0">
                <a:latin typeface="Times New Roman" panose="02020603050405020304" pitchFamily="18" charset="0"/>
                <a:cs typeface="Times New Roman" panose="02020603050405020304" pitchFamily="18" charset="0"/>
              </a:rPr>
              <a:t>Exploratory Data Analysis (EDA)</a:t>
            </a:r>
          </a:p>
        </p:txBody>
      </p:sp>
      <p:pic>
        <p:nvPicPr>
          <p:cNvPr id="8" name="Picture 7">
            <a:extLst>
              <a:ext uri="{FF2B5EF4-FFF2-40B4-BE49-F238E27FC236}">
                <a16:creationId xmlns:a16="http://schemas.microsoft.com/office/drawing/2014/main" id="{DF6FEBAB-6B2A-92FC-BE17-2F8DF1D02904}"/>
              </a:ext>
            </a:extLst>
          </p:cNvPr>
          <p:cNvPicPr>
            <a:picLocks noChangeAspect="1"/>
          </p:cNvPicPr>
          <p:nvPr/>
        </p:nvPicPr>
        <p:blipFill>
          <a:blip r:embed="rId3"/>
          <a:stretch>
            <a:fillRect/>
          </a:stretch>
        </p:blipFill>
        <p:spPr>
          <a:xfrm>
            <a:off x="97536" y="1143000"/>
            <a:ext cx="4572000" cy="2286000"/>
          </a:xfrm>
          <a:prstGeom prst="rect">
            <a:avLst/>
          </a:prstGeom>
        </p:spPr>
      </p:pic>
      <p:pic>
        <p:nvPicPr>
          <p:cNvPr id="10" name="Picture 9">
            <a:extLst>
              <a:ext uri="{FF2B5EF4-FFF2-40B4-BE49-F238E27FC236}">
                <a16:creationId xmlns:a16="http://schemas.microsoft.com/office/drawing/2014/main" id="{237EBF52-4A66-53D4-F9D7-FDF4B6911804}"/>
              </a:ext>
            </a:extLst>
          </p:cNvPr>
          <p:cNvPicPr>
            <a:picLocks noChangeAspect="1"/>
          </p:cNvPicPr>
          <p:nvPr/>
        </p:nvPicPr>
        <p:blipFill>
          <a:blip r:embed="rId4"/>
          <a:stretch>
            <a:fillRect/>
          </a:stretch>
        </p:blipFill>
        <p:spPr>
          <a:xfrm>
            <a:off x="4572000" y="1143000"/>
            <a:ext cx="4572000" cy="2286000"/>
          </a:xfrm>
          <a:prstGeom prst="rect">
            <a:avLst/>
          </a:prstGeom>
        </p:spPr>
      </p:pic>
      <p:sp>
        <p:nvSpPr>
          <p:cNvPr id="11" name="TextBox 10">
            <a:extLst>
              <a:ext uri="{FF2B5EF4-FFF2-40B4-BE49-F238E27FC236}">
                <a16:creationId xmlns:a16="http://schemas.microsoft.com/office/drawing/2014/main" id="{E43E370B-F867-41D9-8A02-E0CD85B87631}"/>
              </a:ext>
            </a:extLst>
          </p:cNvPr>
          <p:cNvSpPr txBox="1"/>
          <p:nvPr/>
        </p:nvSpPr>
        <p:spPr>
          <a:xfrm>
            <a:off x="521208" y="3429000"/>
            <a:ext cx="8101584" cy="286232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Industry Assets Under Management (AUM) showed consistent growth throughout the analysis period.</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Monthly SIP inflows increased significantly, indicating growing retail investor participation.</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Mutual fund adoption continued to expand across different investor segments.</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Industry growth was supported by sustained capital inflows and increasing investor confidence.</a:t>
            </a:r>
          </a:p>
        </p:txBody>
      </p:sp>
      <p:pic>
        <p:nvPicPr>
          <p:cNvPr id="3" name="Picture 2">
            <a:extLst>
              <a:ext uri="{FF2B5EF4-FFF2-40B4-BE49-F238E27FC236}">
                <a16:creationId xmlns:a16="http://schemas.microsoft.com/office/drawing/2014/main" id="{3C7BE7DC-4A7B-E7CF-0B6D-5FC69024E777}"/>
              </a:ext>
            </a:extLst>
          </p:cNvPr>
          <p:cNvPicPr>
            <a:picLocks noChangeAspect="1"/>
          </p:cNvPicPr>
          <p:nvPr/>
        </p:nvPicPr>
        <p:blipFill>
          <a:blip r:embed="rId5"/>
          <a:stretch>
            <a:fillRect/>
          </a:stretch>
        </p:blipFill>
        <p:spPr>
          <a:xfrm>
            <a:off x="8156448" y="0"/>
            <a:ext cx="987552" cy="9875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74638"/>
            <a:ext cx="8229600" cy="1143000"/>
          </a:xfrm>
        </p:spPr>
        <p:txBody>
          <a:bodyPr/>
          <a:lstStyle/>
          <a:p>
            <a:r>
              <a:rPr lang="en-US" dirty="0">
                <a:latin typeface="Times New Roman" panose="02020603050405020304" pitchFamily="18" charset="0"/>
                <a:cs typeface="Times New Roman" panose="02020603050405020304" pitchFamily="18" charset="0"/>
              </a:rPr>
              <a:t>Performance &amp; Risk Analytics</a:t>
            </a:r>
            <a:endParaRPr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47195DF-D0C8-B3B0-0236-5BBC8D213CE2}"/>
              </a:ext>
            </a:extLst>
          </p:cNvPr>
          <p:cNvPicPr>
            <a:picLocks noChangeAspect="1"/>
          </p:cNvPicPr>
          <p:nvPr/>
        </p:nvPicPr>
        <p:blipFill>
          <a:blip r:embed="rId2"/>
          <a:stretch>
            <a:fillRect/>
          </a:stretch>
        </p:blipFill>
        <p:spPr>
          <a:xfrm>
            <a:off x="1" y="1417638"/>
            <a:ext cx="4572000" cy="3048436"/>
          </a:xfrm>
          <a:prstGeom prst="rect">
            <a:avLst/>
          </a:prstGeom>
        </p:spPr>
      </p:pic>
      <p:pic>
        <p:nvPicPr>
          <p:cNvPr id="7" name="Picture 6">
            <a:extLst>
              <a:ext uri="{FF2B5EF4-FFF2-40B4-BE49-F238E27FC236}">
                <a16:creationId xmlns:a16="http://schemas.microsoft.com/office/drawing/2014/main" id="{E242F7BD-9E90-66E4-F2E6-1CB21C115592}"/>
              </a:ext>
            </a:extLst>
          </p:cNvPr>
          <p:cNvPicPr>
            <a:picLocks noChangeAspect="1"/>
          </p:cNvPicPr>
          <p:nvPr/>
        </p:nvPicPr>
        <p:blipFill>
          <a:blip r:embed="rId3"/>
          <a:stretch>
            <a:fillRect/>
          </a:stretch>
        </p:blipFill>
        <p:spPr>
          <a:xfrm>
            <a:off x="4297485" y="1417638"/>
            <a:ext cx="4846515" cy="2933918"/>
          </a:xfrm>
          <a:prstGeom prst="rect">
            <a:avLst/>
          </a:prstGeom>
        </p:spPr>
      </p:pic>
      <p:sp>
        <p:nvSpPr>
          <p:cNvPr id="8" name="TextBox 7">
            <a:extLst>
              <a:ext uri="{FF2B5EF4-FFF2-40B4-BE49-F238E27FC236}">
                <a16:creationId xmlns:a16="http://schemas.microsoft.com/office/drawing/2014/main" id="{6DB60FAC-66BE-0809-A8D8-6A8867611823}"/>
              </a:ext>
            </a:extLst>
          </p:cNvPr>
          <p:cNvSpPr txBox="1"/>
          <p:nvPr/>
        </p:nvSpPr>
        <p:spPr>
          <a:xfrm>
            <a:off x="481780" y="4718304"/>
            <a:ext cx="3956109" cy="1477328"/>
          </a:xfrm>
          <a:prstGeom prst="rect">
            <a:avLst/>
          </a:prstGeom>
          <a:noFill/>
        </p:spPr>
        <p:txBody>
          <a:bodyPr wrap="square" rtlCol="0">
            <a:spAutoFit/>
          </a:bodyPr>
          <a:lstStyle/>
          <a:p>
            <a:r>
              <a:rPr lang="en-US" dirty="0"/>
              <a:t>Risk Metrics Used</a:t>
            </a:r>
          </a:p>
          <a:p>
            <a:r>
              <a:rPr lang="en-US" dirty="0"/>
              <a:t>• Value at Risk (</a:t>
            </a:r>
            <a:r>
              <a:rPr lang="en-US" dirty="0" err="1"/>
              <a:t>VaR</a:t>
            </a:r>
            <a:r>
              <a:rPr lang="en-US" dirty="0"/>
              <a:t>)</a:t>
            </a:r>
            <a:br>
              <a:rPr lang="en-US" dirty="0"/>
            </a:br>
            <a:r>
              <a:rPr lang="en-US" dirty="0"/>
              <a:t>• Conditional </a:t>
            </a:r>
            <a:r>
              <a:rPr lang="en-US" dirty="0" err="1"/>
              <a:t>VaR</a:t>
            </a:r>
            <a:r>
              <a:rPr lang="en-US" dirty="0"/>
              <a:t> (CVaR)</a:t>
            </a:r>
            <a:br>
              <a:rPr lang="en-US" dirty="0"/>
            </a:br>
            <a:r>
              <a:rPr lang="en-US" dirty="0"/>
              <a:t>• Rolling Sharpe Ratio</a:t>
            </a:r>
            <a:br>
              <a:rPr lang="en-US" dirty="0"/>
            </a:br>
            <a:r>
              <a:rPr lang="en-US" dirty="0"/>
              <a:t>• Volatility Analysis</a:t>
            </a:r>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AC52D52-15FD-32E7-145B-2DDCB0F1CDFC}"/>
              </a:ext>
            </a:extLst>
          </p:cNvPr>
          <p:cNvSpPr txBox="1"/>
          <p:nvPr/>
        </p:nvSpPr>
        <p:spPr>
          <a:xfrm>
            <a:off x="4706112" y="4718304"/>
            <a:ext cx="4096512" cy="2031325"/>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Performance Metrics Used</a:t>
            </a:r>
          </a:p>
          <a:p>
            <a:r>
              <a:rPr lang="en-US">
                <a:latin typeface="Times New Roman" panose="02020603050405020304" pitchFamily="18" charset="0"/>
                <a:cs typeface="Times New Roman" panose="02020603050405020304" pitchFamily="18" charset="0"/>
              </a:rPr>
              <a:t>• CAGR</a:t>
            </a:r>
          </a:p>
          <a:p>
            <a:r>
              <a:rPr lang="en-US">
                <a:latin typeface="Times New Roman" panose="02020603050405020304" pitchFamily="18" charset="0"/>
                <a:cs typeface="Times New Roman" panose="02020603050405020304" pitchFamily="18" charset="0"/>
              </a:rPr>
              <a:t>• Sharpe Ratio</a:t>
            </a:r>
          </a:p>
          <a:p>
            <a:r>
              <a:rPr lang="en-US">
                <a:latin typeface="Times New Roman" panose="02020603050405020304" pitchFamily="18" charset="0"/>
                <a:cs typeface="Times New Roman" panose="02020603050405020304" pitchFamily="18" charset="0"/>
              </a:rPr>
              <a:t>• Sortino Ratio</a:t>
            </a:r>
          </a:p>
          <a:p>
            <a:r>
              <a:rPr lang="en-US">
                <a:latin typeface="Times New Roman" panose="02020603050405020304" pitchFamily="18" charset="0"/>
                <a:cs typeface="Times New Roman" panose="02020603050405020304" pitchFamily="18" charset="0"/>
              </a:rPr>
              <a:t>• Alpha</a:t>
            </a:r>
          </a:p>
          <a:p>
            <a:r>
              <a:rPr lang="en-US">
                <a:latin typeface="Times New Roman" panose="02020603050405020304" pitchFamily="18" charset="0"/>
                <a:cs typeface="Times New Roman" panose="02020603050405020304" pitchFamily="18" charset="0"/>
              </a:rPr>
              <a:t>• Beta</a:t>
            </a:r>
          </a:p>
          <a:p>
            <a:r>
              <a:rPr lang="en-US">
                <a:latin typeface="Times New Roman" panose="02020603050405020304" pitchFamily="18" charset="0"/>
                <a:cs typeface="Times New Roman" panose="02020603050405020304" pitchFamily="18" charset="0"/>
              </a:rPr>
              <a:t>• Maximum Drawdown</a:t>
            </a: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6E9C37E-D30F-2711-92BD-CB62A49DD93C}"/>
              </a:ext>
            </a:extLst>
          </p:cNvPr>
          <p:cNvPicPr>
            <a:picLocks noChangeAspect="1"/>
          </p:cNvPicPr>
          <p:nvPr/>
        </p:nvPicPr>
        <p:blipFill>
          <a:blip r:embed="rId4"/>
          <a:stretch>
            <a:fillRect/>
          </a:stretch>
        </p:blipFill>
        <p:spPr>
          <a:xfrm>
            <a:off x="8156448" y="0"/>
            <a:ext cx="987552" cy="9875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74638"/>
            <a:ext cx="8229600" cy="1143000"/>
          </a:xfrm>
        </p:spPr>
        <p:txBody>
          <a:bodyPr>
            <a:normAutofit fontScale="90000"/>
          </a:bodyPr>
          <a:lstStyle/>
          <a:p>
            <a:r>
              <a:rPr lang="en-US" dirty="0">
                <a:latin typeface="Times New Roman" panose="02020603050405020304" pitchFamily="18" charset="0"/>
                <a:cs typeface="Times New Roman" panose="02020603050405020304" pitchFamily="18" charset="0"/>
              </a:rPr>
              <a:t>Power BI Dashboard – Industry Overview &amp; Fund Performance</a:t>
            </a:r>
            <a:endParaRPr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0AB2C03-E064-3DFF-F7A1-2C6894CC216A}"/>
              </a:ext>
            </a:extLst>
          </p:cNvPr>
          <p:cNvPicPr>
            <a:picLocks noChangeAspect="1"/>
          </p:cNvPicPr>
          <p:nvPr/>
        </p:nvPicPr>
        <p:blipFill>
          <a:blip r:embed="rId2"/>
          <a:stretch>
            <a:fillRect/>
          </a:stretch>
        </p:blipFill>
        <p:spPr>
          <a:xfrm>
            <a:off x="259681" y="1893737"/>
            <a:ext cx="4077210" cy="2293252"/>
          </a:xfrm>
          <a:prstGeom prst="rect">
            <a:avLst/>
          </a:prstGeom>
        </p:spPr>
      </p:pic>
      <p:pic>
        <p:nvPicPr>
          <p:cNvPr id="4" name="Picture 3">
            <a:extLst>
              <a:ext uri="{FF2B5EF4-FFF2-40B4-BE49-F238E27FC236}">
                <a16:creationId xmlns:a16="http://schemas.microsoft.com/office/drawing/2014/main" id="{7EB42681-03B0-B53F-6B4D-78BC9F69C548}"/>
              </a:ext>
            </a:extLst>
          </p:cNvPr>
          <p:cNvPicPr>
            <a:picLocks noChangeAspect="1"/>
          </p:cNvPicPr>
          <p:nvPr/>
        </p:nvPicPr>
        <p:blipFill>
          <a:blip r:embed="rId3"/>
          <a:stretch>
            <a:fillRect/>
          </a:stretch>
        </p:blipFill>
        <p:spPr>
          <a:xfrm>
            <a:off x="4572000" y="1873036"/>
            <a:ext cx="4114800" cy="2313953"/>
          </a:xfrm>
          <a:prstGeom prst="rect">
            <a:avLst/>
          </a:prstGeom>
        </p:spPr>
      </p:pic>
      <p:sp>
        <p:nvSpPr>
          <p:cNvPr id="5" name="TextBox 4">
            <a:extLst>
              <a:ext uri="{FF2B5EF4-FFF2-40B4-BE49-F238E27FC236}">
                <a16:creationId xmlns:a16="http://schemas.microsoft.com/office/drawing/2014/main" id="{49C1DB67-C956-2BF9-A2B3-C2CFBDD8759A}"/>
              </a:ext>
            </a:extLst>
          </p:cNvPr>
          <p:cNvSpPr txBox="1"/>
          <p:nvPr/>
        </p:nvSpPr>
        <p:spPr>
          <a:xfrm>
            <a:off x="583038" y="4186989"/>
            <a:ext cx="2990341" cy="1938992"/>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Dashboard Capabilities</a:t>
            </a:r>
          </a:p>
          <a:p>
            <a:r>
              <a:rPr lang="en-US" sz="2000" dirty="0">
                <a:latin typeface="Times New Roman" panose="02020603050405020304" pitchFamily="18" charset="0"/>
                <a:cs typeface="Times New Roman" panose="02020603050405020304" pitchFamily="18" charset="0"/>
              </a:rPr>
              <a:t>✓ Interactive Filters</a:t>
            </a:r>
          </a:p>
          <a:p>
            <a:r>
              <a:rPr lang="en-US" sz="2000" dirty="0">
                <a:latin typeface="Times New Roman" panose="02020603050405020304" pitchFamily="18" charset="0"/>
                <a:cs typeface="Times New Roman" panose="02020603050405020304" pitchFamily="18" charset="0"/>
              </a:rPr>
              <a:t>✓ Fund-Level Analysis</a:t>
            </a:r>
          </a:p>
          <a:p>
            <a:r>
              <a:rPr lang="en-US" sz="2000" dirty="0">
                <a:latin typeface="Times New Roman" panose="02020603050405020304" pitchFamily="18" charset="0"/>
                <a:cs typeface="Times New Roman" panose="02020603050405020304" pitchFamily="18" charset="0"/>
              </a:rPr>
              <a:t>✓ Benchmark Comparison</a:t>
            </a:r>
          </a:p>
          <a:p>
            <a:r>
              <a:rPr lang="en-US" sz="2000" dirty="0">
                <a:latin typeface="Times New Roman" panose="02020603050405020304" pitchFamily="18" charset="0"/>
                <a:cs typeface="Times New Roman" panose="02020603050405020304" pitchFamily="18" charset="0"/>
              </a:rPr>
              <a:t>✓ Trend Visualization</a:t>
            </a:r>
          </a:p>
          <a:p>
            <a:r>
              <a:rPr lang="en-US" sz="2000" dirty="0">
                <a:latin typeface="Times New Roman" panose="02020603050405020304" pitchFamily="18" charset="0"/>
                <a:cs typeface="Times New Roman" panose="02020603050405020304" pitchFamily="18" charset="0"/>
              </a:rPr>
              <a:t>✓ Performance Monitoring</a:t>
            </a:r>
          </a:p>
        </p:txBody>
      </p:sp>
      <p:sp>
        <p:nvSpPr>
          <p:cNvPr id="6" name="TextBox 5">
            <a:extLst>
              <a:ext uri="{FF2B5EF4-FFF2-40B4-BE49-F238E27FC236}">
                <a16:creationId xmlns:a16="http://schemas.microsoft.com/office/drawing/2014/main" id="{A162B66D-7648-7894-7D11-259F0E57BB1F}"/>
              </a:ext>
            </a:extLst>
          </p:cNvPr>
          <p:cNvSpPr txBox="1"/>
          <p:nvPr/>
        </p:nvSpPr>
        <p:spPr>
          <a:xfrm>
            <a:off x="4336891" y="4415590"/>
            <a:ext cx="4698825" cy="203132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400" dirty="0">
                <a:latin typeface="Times New Roman" panose="02020603050405020304" pitchFamily="18" charset="0"/>
                <a:cs typeface="Times New Roman" panose="02020603050405020304" pitchFamily="18" charset="0"/>
              </a:rPr>
              <a:t>Key Insights</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Industry AUM and SIP inflows continued to show strong growth.</a:t>
            </a:r>
          </a:p>
          <a:p>
            <a:r>
              <a:rPr lang="en-US" sz="1400" dirty="0">
                <a:latin typeface="Times New Roman" panose="02020603050405020304" pitchFamily="18" charset="0"/>
                <a:cs typeface="Times New Roman" panose="02020603050405020304" pitchFamily="18" charset="0"/>
              </a:rPr>
              <a:t>• Fund performance varied significantly across categories.</a:t>
            </a:r>
          </a:p>
          <a:p>
            <a:r>
              <a:rPr lang="en-US" sz="1400" dirty="0">
                <a:latin typeface="Times New Roman" panose="02020603050405020304" pitchFamily="18" charset="0"/>
                <a:cs typeface="Times New Roman" panose="02020603050405020304" pitchFamily="18" charset="0"/>
              </a:rPr>
              <a:t>• Benchmark comparisons helped identify outperforming schemes.</a:t>
            </a:r>
          </a:p>
          <a:p>
            <a:r>
              <a:rPr lang="en-US" sz="1400" dirty="0">
                <a:latin typeface="Times New Roman" panose="02020603050405020304" pitchFamily="18" charset="0"/>
                <a:cs typeface="Times New Roman" panose="02020603050405020304" pitchFamily="18" charset="0"/>
              </a:rPr>
              <a:t>• Interactive visualizations improved accessibility of complex financial metrics.</a:t>
            </a:r>
          </a:p>
        </p:txBody>
      </p:sp>
      <p:pic>
        <p:nvPicPr>
          <p:cNvPr id="7" name="Picture 6">
            <a:extLst>
              <a:ext uri="{FF2B5EF4-FFF2-40B4-BE49-F238E27FC236}">
                <a16:creationId xmlns:a16="http://schemas.microsoft.com/office/drawing/2014/main" id="{327458A4-00C8-6317-B82D-AEF2C6010F51}"/>
              </a:ext>
            </a:extLst>
          </p:cNvPr>
          <p:cNvPicPr>
            <a:picLocks noChangeAspect="1"/>
          </p:cNvPicPr>
          <p:nvPr/>
        </p:nvPicPr>
        <p:blipFill>
          <a:blip r:embed="rId4"/>
          <a:stretch>
            <a:fillRect/>
          </a:stretch>
        </p:blipFill>
        <p:spPr>
          <a:xfrm>
            <a:off x="8156448" y="0"/>
            <a:ext cx="987552" cy="9875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Power BI Dashboard – Investor Analytics &amp; SIP Market Trends</a:t>
            </a:r>
            <a:endParaRPr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E0FBFFC-C297-F5B3-50C9-A8B7EA1AABFA}"/>
              </a:ext>
            </a:extLst>
          </p:cNvPr>
          <p:cNvPicPr>
            <a:picLocks noChangeAspect="1"/>
          </p:cNvPicPr>
          <p:nvPr/>
        </p:nvPicPr>
        <p:blipFill>
          <a:blip r:embed="rId2"/>
          <a:stretch>
            <a:fillRect/>
          </a:stretch>
        </p:blipFill>
        <p:spPr>
          <a:xfrm>
            <a:off x="81547" y="1687429"/>
            <a:ext cx="4400884" cy="2475497"/>
          </a:xfrm>
          <a:prstGeom prst="rect">
            <a:avLst/>
          </a:prstGeom>
        </p:spPr>
      </p:pic>
      <p:pic>
        <p:nvPicPr>
          <p:cNvPr id="7" name="Picture 6">
            <a:extLst>
              <a:ext uri="{FF2B5EF4-FFF2-40B4-BE49-F238E27FC236}">
                <a16:creationId xmlns:a16="http://schemas.microsoft.com/office/drawing/2014/main" id="{C329E018-5E28-3632-199D-99C0ED256EC8}"/>
              </a:ext>
            </a:extLst>
          </p:cNvPr>
          <p:cNvPicPr>
            <a:picLocks noChangeAspect="1"/>
          </p:cNvPicPr>
          <p:nvPr/>
        </p:nvPicPr>
        <p:blipFill>
          <a:blip r:embed="rId3"/>
          <a:stretch>
            <a:fillRect/>
          </a:stretch>
        </p:blipFill>
        <p:spPr>
          <a:xfrm>
            <a:off x="4572000" y="1687429"/>
            <a:ext cx="4490453" cy="2525880"/>
          </a:xfrm>
          <a:prstGeom prst="rect">
            <a:avLst/>
          </a:prstGeom>
        </p:spPr>
      </p:pic>
      <p:sp>
        <p:nvSpPr>
          <p:cNvPr id="8" name="TextBox 7">
            <a:extLst>
              <a:ext uri="{FF2B5EF4-FFF2-40B4-BE49-F238E27FC236}">
                <a16:creationId xmlns:a16="http://schemas.microsoft.com/office/drawing/2014/main" id="{A633B128-AC38-53A9-7CF9-E31CEBD6F4D5}"/>
              </a:ext>
            </a:extLst>
          </p:cNvPr>
          <p:cNvSpPr txBox="1"/>
          <p:nvPr/>
        </p:nvSpPr>
        <p:spPr>
          <a:xfrm>
            <a:off x="4572000" y="4483100"/>
            <a:ext cx="4311315" cy="1938992"/>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Analytics Covered</a:t>
            </a:r>
          </a:p>
          <a:p>
            <a:r>
              <a:rPr lang="en-US" sz="2000" dirty="0">
                <a:latin typeface="Times New Roman" panose="02020603050405020304" pitchFamily="18" charset="0"/>
                <a:cs typeface="Times New Roman" panose="02020603050405020304" pitchFamily="18" charset="0"/>
              </a:rPr>
              <a:t>• Investor Demographics</a:t>
            </a:r>
          </a:p>
          <a:p>
            <a:r>
              <a:rPr lang="en-US" sz="2000" dirty="0">
                <a:latin typeface="Times New Roman" panose="02020603050405020304" pitchFamily="18" charset="0"/>
                <a:cs typeface="Times New Roman" panose="02020603050405020304" pitchFamily="18" charset="0"/>
              </a:rPr>
              <a:t>• Transaction Analysis</a:t>
            </a:r>
          </a:p>
          <a:p>
            <a:r>
              <a:rPr lang="en-US" sz="2000" dirty="0">
                <a:latin typeface="Times New Roman" panose="02020603050405020304" pitchFamily="18" charset="0"/>
                <a:cs typeface="Times New Roman" panose="02020603050405020304" pitchFamily="18" charset="0"/>
              </a:rPr>
              <a:t>• Income Segmentation</a:t>
            </a:r>
          </a:p>
          <a:p>
            <a:r>
              <a:rPr lang="en-US" sz="2000" dirty="0">
                <a:latin typeface="Times New Roman" panose="02020603050405020304" pitchFamily="18" charset="0"/>
                <a:cs typeface="Times New Roman" panose="02020603050405020304" pitchFamily="18" charset="0"/>
              </a:rPr>
              <a:t>• State-wise Participation</a:t>
            </a:r>
          </a:p>
          <a:p>
            <a:r>
              <a:rPr lang="en-US" sz="2000" dirty="0">
                <a:latin typeface="Times New Roman" panose="02020603050405020304" pitchFamily="18" charset="0"/>
                <a:cs typeface="Times New Roman" panose="02020603050405020304" pitchFamily="18" charset="0"/>
              </a:rPr>
              <a:t>• SIP Behavior Analysis</a:t>
            </a:r>
          </a:p>
        </p:txBody>
      </p:sp>
      <p:sp>
        <p:nvSpPr>
          <p:cNvPr id="9" name="TextBox 8">
            <a:extLst>
              <a:ext uri="{FF2B5EF4-FFF2-40B4-BE49-F238E27FC236}">
                <a16:creationId xmlns:a16="http://schemas.microsoft.com/office/drawing/2014/main" id="{5C472FAD-6304-484A-F20D-45ACFA4770DC}"/>
              </a:ext>
            </a:extLst>
          </p:cNvPr>
          <p:cNvSpPr txBox="1"/>
          <p:nvPr/>
        </p:nvSpPr>
        <p:spPr>
          <a:xfrm>
            <a:off x="260685" y="4432717"/>
            <a:ext cx="4311315" cy="1938992"/>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Business Value</a:t>
            </a:r>
          </a:p>
          <a:p>
            <a:r>
              <a:rPr lang="en-US" sz="2000" dirty="0">
                <a:latin typeface="Times New Roman" panose="02020603050405020304" pitchFamily="18" charset="0"/>
                <a:cs typeface="Times New Roman" panose="02020603050405020304" pitchFamily="18" charset="0"/>
              </a:rPr>
              <a:t>• Understand investor behavior</a:t>
            </a:r>
          </a:p>
          <a:p>
            <a:r>
              <a:rPr lang="en-US" sz="2000" dirty="0">
                <a:latin typeface="Times New Roman" panose="02020603050405020304" pitchFamily="18" charset="0"/>
                <a:cs typeface="Times New Roman" panose="02020603050405020304" pitchFamily="18" charset="0"/>
              </a:rPr>
              <a:t>• Track SIP growth trends</a:t>
            </a:r>
          </a:p>
          <a:p>
            <a:r>
              <a:rPr lang="en-US" sz="2000" dirty="0">
                <a:latin typeface="Times New Roman" panose="02020603050405020304" pitchFamily="18" charset="0"/>
                <a:cs typeface="Times New Roman" panose="02020603050405020304" pitchFamily="18" charset="0"/>
              </a:rPr>
              <a:t>• Identify participation patterns</a:t>
            </a:r>
          </a:p>
          <a:p>
            <a:r>
              <a:rPr lang="en-US" sz="2000" dirty="0">
                <a:latin typeface="Times New Roman" panose="02020603050405020304" pitchFamily="18" charset="0"/>
                <a:cs typeface="Times New Roman" panose="02020603050405020304" pitchFamily="18" charset="0"/>
              </a:rPr>
              <a:t>• Support investment decision-making</a:t>
            </a:r>
          </a:p>
          <a:p>
            <a:r>
              <a:rPr lang="en-US" sz="2000" dirty="0">
                <a:latin typeface="Times New Roman" panose="02020603050405020304" pitchFamily="18" charset="0"/>
                <a:cs typeface="Times New Roman" panose="02020603050405020304" pitchFamily="18" charset="0"/>
              </a:rPr>
              <a:t>• Monitor industry expansion</a:t>
            </a:r>
          </a:p>
        </p:txBody>
      </p:sp>
      <p:pic>
        <p:nvPicPr>
          <p:cNvPr id="3" name="Picture 2">
            <a:extLst>
              <a:ext uri="{FF2B5EF4-FFF2-40B4-BE49-F238E27FC236}">
                <a16:creationId xmlns:a16="http://schemas.microsoft.com/office/drawing/2014/main" id="{EF2B4FBD-B135-CD0E-D344-AD5629428359}"/>
              </a:ext>
            </a:extLst>
          </p:cNvPr>
          <p:cNvPicPr>
            <a:picLocks noChangeAspect="1"/>
          </p:cNvPicPr>
          <p:nvPr/>
        </p:nvPicPr>
        <p:blipFill>
          <a:blip r:embed="rId4"/>
          <a:stretch>
            <a:fillRect/>
          </a:stretch>
        </p:blipFill>
        <p:spPr>
          <a:xfrm>
            <a:off x="8156448" y="0"/>
            <a:ext cx="987552" cy="9875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Times New Roman" panose="02020603050405020304" pitchFamily="18" charset="0"/>
                <a:cs typeface="Times New Roman" panose="02020603050405020304" pitchFamily="18" charset="0"/>
              </a:rPr>
              <a:t>Streamlit Dashboard</a:t>
            </a:r>
          </a:p>
        </p:txBody>
      </p:sp>
      <p:pic>
        <p:nvPicPr>
          <p:cNvPr id="5" name="Picture 4">
            <a:extLst>
              <a:ext uri="{FF2B5EF4-FFF2-40B4-BE49-F238E27FC236}">
                <a16:creationId xmlns:a16="http://schemas.microsoft.com/office/drawing/2014/main" id="{6D48D0CD-9E04-F3F7-596B-7CA39957190A}"/>
              </a:ext>
            </a:extLst>
          </p:cNvPr>
          <p:cNvPicPr>
            <a:picLocks noChangeAspect="1"/>
          </p:cNvPicPr>
          <p:nvPr/>
        </p:nvPicPr>
        <p:blipFill>
          <a:blip r:embed="rId2"/>
          <a:stretch>
            <a:fillRect/>
          </a:stretch>
        </p:blipFill>
        <p:spPr>
          <a:xfrm>
            <a:off x="156411" y="1420596"/>
            <a:ext cx="3759172" cy="1836241"/>
          </a:xfrm>
          <a:prstGeom prst="rect">
            <a:avLst/>
          </a:prstGeom>
        </p:spPr>
      </p:pic>
      <p:pic>
        <p:nvPicPr>
          <p:cNvPr id="7" name="Picture 6">
            <a:extLst>
              <a:ext uri="{FF2B5EF4-FFF2-40B4-BE49-F238E27FC236}">
                <a16:creationId xmlns:a16="http://schemas.microsoft.com/office/drawing/2014/main" id="{036B3466-6019-4A0C-FF49-BCC675E6F1BC}"/>
              </a:ext>
            </a:extLst>
          </p:cNvPr>
          <p:cNvPicPr>
            <a:picLocks noChangeAspect="1"/>
          </p:cNvPicPr>
          <p:nvPr/>
        </p:nvPicPr>
        <p:blipFill>
          <a:blip r:embed="rId3"/>
          <a:stretch>
            <a:fillRect/>
          </a:stretch>
        </p:blipFill>
        <p:spPr>
          <a:xfrm>
            <a:off x="1052067" y="3721480"/>
            <a:ext cx="4066674" cy="1986545"/>
          </a:xfrm>
          <a:prstGeom prst="rect">
            <a:avLst/>
          </a:prstGeom>
        </p:spPr>
      </p:pic>
      <p:pic>
        <p:nvPicPr>
          <p:cNvPr id="9" name="Picture 8">
            <a:extLst>
              <a:ext uri="{FF2B5EF4-FFF2-40B4-BE49-F238E27FC236}">
                <a16:creationId xmlns:a16="http://schemas.microsoft.com/office/drawing/2014/main" id="{8445235F-706F-2026-21D4-522928341689}"/>
              </a:ext>
            </a:extLst>
          </p:cNvPr>
          <p:cNvPicPr>
            <a:picLocks noChangeAspect="1"/>
          </p:cNvPicPr>
          <p:nvPr/>
        </p:nvPicPr>
        <p:blipFill>
          <a:blip r:embed="rId4"/>
          <a:stretch>
            <a:fillRect/>
          </a:stretch>
        </p:blipFill>
        <p:spPr>
          <a:xfrm>
            <a:off x="4877042" y="1420596"/>
            <a:ext cx="3918044" cy="1909995"/>
          </a:xfrm>
          <a:prstGeom prst="rect">
            <a:avLst/>
          </a:prstGeom>
        </p:spPr>
      </p:pic>
      <p:pic>
        <p:nvPicPr>
          <p:cNvPr id="3" name="Picture 2">
            <a:extLst>
              <a:ext uri="{FF2B5EF4-FFF2-40B4-BE49-F238E27FC236}">
                <a16:creationId xmlns:a16="http://schemas.microsoft.com/office/drawing/2014/main" id="{89E33F5D-4146-9203-5C29-E66E7872FB53}"/>
              </a:ext>
            </a:extLst>
          </p:cNvPr>
          <p:cNvPicPr>
            <a:picLocks noChangeAspect="1"/>
          </p:cNvPicPr>
          <p:nvPr/>
        </p:nvPicPr>
        <p:blipFill>
          <a:blip r:embed="rId5"/>
          <a:stretch>
            <a:fillRect/>
          </a:stretch>
        </p:blipFill>
        <p:spPr>
          <a:xfrm>
            <a:off x="8156448" y="0"/>
            <a:ext cx="987552" cy="9875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Machine Learning &amp; Forecasting Analytics</a:t>
            </a:r>
            <a:endParaRPr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A9B45694-9359-0803-FE5D-715FEA574F3C}"/>
              </a:ext>
            </a:extLst>
          </p:cNvPr>
          <p:cNvSpPr>
            <a:spLocks noGrp="1"/>
          </p:cNvSpPr>
          <p:nvPr>
            <p:ph type="body"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Random Forest Feature Importance</a:t>
            </a:r>
          </a:p>
        </p:txBody>
      </p:sp>
      <p:pic>
        <p:nvPicPr>
          <p:cNvPr id="8" name="Content Placeholder 7">
            <a:extLst>
              <a:ext uri="{FF2B5EF4-FFF2-40B4-BE49-F238E27FC236}">
                <a16:creationId xmlns:a16="http://schemas.microsoft.com/office/drawing/2014/main" id="{B566C1BB-E5F9-C6C2-08EB-4B824359A62F}"/>
              </a:ext>
            </a:extLst>
          </p:cNvPr>
          <p:cNvPicPr>
            <a:picLocks noGrp="1" noChangeAspect="1"/>
          </p:cNvPicPr>
          <p:nvPr>
            <p:ph sz="half" idx="2"/>
          </p:nvPr>
        </p:nvPicPr>
        <p:blipFill>
          <a:blip r:embed="rId2"/>
          <a:stretch>
            <a:fillRect/>
          </a:stretch>
        </p:blipFill>
        <p:spPr>
          <a:xfrm>
            <a:off x="482474" y="2438578"/>
            <a:ext cx="4040188" cy="2244548"/>
          </a:xfrm>
          <a:prstGeom prst="rect">
            <a:avLst/>
          </a:prstGeom>
        </p:spPr>
      </p:pic>
      <p:sp>
        <p:nvSpPr>
          <p:cNvPr id="5" name="Text Placeholder 4">
            <a:extLst>
              <a:ext uri="{FF2B5EF4-FFF2-40B4-BE49-F238E27FC236}">
                <a16:creationId xmlns:a16="http://schemas.microsoft.com/office/drawing/2014/main" id="{28F71D58-B407-9F81-445A-7F94EE58DA21}"/>
              </a:ext>
            </a:extLst>
          </p:cNvPr>
          <p:cNvSpPr>
            <a:spLocks noGrp="1"/>
          </p:cNvSpPr>
          <p:nvPr>
            <p:ph type="body" sz="quarter" idx="3"/>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5-Year Monte Carlo NAV Forecast</a:t>
            </a:r>
          </a:p>
        </p:txBody>
      </p:sp>
      <p:pic>
        <p:nvPicPr>
          <p:cNvPr id="10" name="Content Placeholder 9">
            <a:extLst>
              <a:ext uri="{FF2B5EF4-FFF2-40B4-BE49-F238E27FC236}">
                <a16:creationId xmlns:a16="http://schemas.microsoft.com/office/drawing/2014/main" id="{2821C76E-8D04-AF64-3335-86D0B1ECC5B7}"/>
              </a:ext>
            </a:extLst>
          </p:cNvPr>
          <p:cNvPicPr>
            <a:picLocks noGrp="1" noChangeAspect="1"/>
          </p:cNvPicPr>
          <p:nvPr>
            <p:ph sz="quarter" idx="4"/>
          </p:nvPr>
        </p:nvPicPr>
        <p:blipFill>
          <a:blip r:embed="rId3"/>
          <a:stretch>
            <a:fillRect/>
          </a:stretch>
        </p:blipFill>
        <p:spPr>
          <a:xfrm>
            <a:off x="4645025" y="2538496"/>
            <a:ext cx="4041775" cy="2020887"/>
          </a:xfrm>
          <a:prstGeom prst="rect">
            <a:avLst/>
          </a:prstGeom>
        </p:spPr>
      </p:pic>
      <p:sp>
        <p:nvSpPr>
          <p:cNvPr id="11" name="TextBox 10">
            <a:extLst>
              <a:ext uri="{FF2B5EF4-FFF2-40B4-BE49-F238E27FC236}">
                <a16:creationId xmlns:a16="http://schemas.microsoft.com/office/drawing/2014/main" id="{B2103A0E-DE71-81C1-5BDE-F875911B8E52}"/>
              </a:ext>
            </a:extLst>
          </p:cNvPr>
          <p:cNvSpPr txBox="1"/>
          <p:nvPr/>
        </p:nvSpPr>
        <p:spPr>
          <a:xfrm>
            <a:off x="721895" y="4683126"/>
            <a:ext cx="3597442"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ML Model Performance</a:t>
            </a:r>
          </a:p>
          <a:p>
            <a:endParaRPr lang="it-IT" dirty="0">
              <a:latin typeface="Times New Roman" panose="02020603050405020304" pitchFamily="18" charset="0"/>
              <a:cs typeface="Times New Roman" panose="02020603050405020304" pitchFamily="18" charset="0"/>
            </a:endParaRPr>
          </a:p>
          <a:p>
            <a:r>
              <a:rPr lang="it-IT" dirty="0">
                <a:latin typeface="Times New Roman" panose="02020603050405020304" pitchFamily="18" charset="0"/>
                <a:cs typeface="Times New Roman" panose="02020603050405020304" pitchFamily="18" charset="0"/>
              </a:rPr>
              <a:t>R² Score : 0.9058</a:t>
            </a:r>
          </a:p>
          <a:p>
            <a:r>
              <a:rPr lang="it-IT" dirty="0">
                <a:latin typeface="Times New Roman" panose="02020603050405020304" pitchFamily="18" charset="0"/>
                <a:cs typeface="Times New Roman" panose="02020603050405020304" pitchFamily="18" charset="0"/>
              </a:rPr>
              <a:t>MAE : 1.07</a:t>
            </a:r>
          </a:p>
          <a:p>
            <a:r>
              <a:rPr lang="it-IT" dirty="0">
                <a:latin typeface="Times New Roman" panose="02020603050405020304" pitchFamily="18" charset="0"/>
                <a:cs typeface="Times New Roman" panose="02020603050405020304" pitchFamily="18" charset="0"/>
              </a:rPr>
              <a:t>RMSE : 1.55</a:t>
            </a:r>
            <a:endParaRPr lang="en-US"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4947CA6-3326-009E-C6A2-BA5C2FAB1CCE}"/>
              </a:ext>
            </a:extLst>
          </p:cNvPr>
          <p:cNvSpPr txBox="1"/>
          <p:nvPr/>
        </p:nvSpPr>
        <p:spPr>
          <a:xfrm>
            <a:off x="4522662" y="4642237"/>
            <a:ext cx="4511842" cy="212365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dirty="0"/>
              <a:t>Key Results</a:t>
            </a:r>
          </a:p>
          <a:p>
            <a:r>
              <a:rPr lang="en-US" sz="1600" dirty="0"/>
              <a:t>• Random Forest model used for return prediction.</a:t>
            </a:r>
          </a:p>
          <a:p>
            <a:r>
              <a:rPr lang="en-US" sz="1600" dirty="0"/>
              <a:t>• Annualized volatility emerged as the most important feature.</a:t>
            </a:r>
          </a:p>
          <a:p>
            <a:r>
              <a:rPr lang="en-US" sz="1600" dirty="0"/>
              <a:t>• Monte Carlo simulation generated 1,000 future NAV scenarios.</a:t>
            </a:r>
          </a:p>
          <a:p>
            <a:r>
              <a:rPr lang="en-US" sz="1600" dirty="0"/>
              <a:t>• Forecasting provided confidence intervals for future performance.</a:t>
            </a:r>
          </a:p>
        </p:txBody>
      </p:sp>
      <p:pic>
        <p:nvPicPr>
          <p:cNvPr id="3" name="Picture 2">
            <a:extLst>
              <a:ext uri="{FF2B5EF4-FFF2-40B4-BE49-F238E27FC236}">
                <a16:creationId xmlns:a16="http://schemas.microsoft.com/office/drawing/2014/main" id="{B3F4F21C-A9AA-20CA-EC23-D5F1EE13EC81}"/>
              </a:ext>
            </a:extLst>
          </p:cNvPr>
          <p:cNvPicPr>
            <a:picLocks noChangeAspect="1"/>
          </p:cNvPicPr>
          <p:nvPr/>
        </p:nvPicPr>
        <p:blipFill>
          <a:blip r:embed="rId4"/>
          <a:stretch>
            <a:fillRect/>
          </a:stretch>
        </p:blipFill>
        <p:spPr>
          <a:xfrm>
            <a:off x="8156448" y="0"/>
            <a:ext cx="987552" cy="9875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 y="207621"/>
            <a:ext cx="8229600" cy="1143000"/>
          </a:xfrm>
        </p:spPr>
        <p:txBody>
          <a:bodyPr>
            <a:normAutofit fontScale="90000"/>
          </a:bodyPr>
          <a:lstStyle/>
          <a:p>
            <a:r>
              <a:rPr dirty="0">
                <a:latin typeface="Times New Roman" panose="02020603050405020304" pitchFamily="18" charset="0"/>
                <a:cs typeface="Times New Roman" panose="02020603050405020304" pitchFamily="18" charset="0"/>
              </a:rPr>
              <a:t>Portfolio Optimization &amp; Key Findings</a:t>
            </a:r>
          </a:p>
        </p:txBody>
      </p:sp>
      <p:sp>
        <p:nvSpPr>
          <p:cNvPr id="4" name="Text Placeholder 3">
            <a:extLst>
              <a:ext uri="{FF2B5EF4-FFF2-40B4-BE49-F238E27FC236}">
                <a16:creationId xmlns:a16="http://schemas.microsoft.com/office/drawing/2014/main" id="{0E896494-DBCA-E83E-F127-CA8DA960747C}"/>
              </a:ext>
            </a:extLst>
          </p:cNvPr>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Markowitz Efficient Frontier</a:t>
            </a:r>
          </a:p>
        </p:txBody>
      </p:sp>
      <p:pic>
        <p:nvPicPr>
          <p:cNvPr id="9" name="Content Placeholder 8">
            <a:extLst>
              <a:ext uri="{FF2B5EF4-FFF2-40B4-BE49-F238E27FC236}">
                <a16:creationId xmlns:a16="http://schemas.microsoft.com/office/drawing/2014/main" id="{0D60FE23-4FC3-7531-31E4-332F766A8DC1}"/>
              </a:ext>
            </a:extLst>
          </p:cNvPr>
          <p:cNvPicPr>
            <a:picLocks noGrp="1" noChangeAspect="1"/>
          </p:cNvPicPr>
          <p:nvPr>
            <p:ph sz="half" idx="2"/>
          </p:nvPr>
        </p:nvPicPr>
        <p:blipFill>
          <a:blip r:embed="rId3"/>
          <a:stretch>
            <a:fillRect/>
          </a:stretch>
        </p:blipFill>
        <p:spPr>
          <a:xfrm>
            <a:off x="457200" y="2292350"/>
            <a:ext cx="4040188" cy="2356776"/>
          </a:xfrm>
          <a:prstGeom prst="rect">
            <a:avLst/>
          </a:prstGeom>
        </p:spPr>
      </p:pic>
      <p:sp>
        <p:nvSpPr>
          <p:cNvPr id="7" name="Content Placeholder 6">
            <a:extLst>
              <a:ext uri="{FF2B5EF4-FFF2-40B4-BE49-F238E27FC236}">
                <a16:creationId xmlns:a16="http://schemas.microsoft.com/office/drawing/2014/main" id="{E7660E2C-8C95-AAE1-7271-5EFF735441F0}"/>
              </a:ext>
            </a:extLst>
          </p:cNvPr>
          <p:cNvSpPr>
            <a:spLocks noGrp="1"/>
          </p:cNvSpPr>
          <p:nvPr>
            <p:ph sz="quarter" idx="4"/>
          </p:nvPr>
        </p:nvSpPr>
        <p:spPr>
          <a:xfrm>
            <a:off x="4646614" y="1535113"/>
            <a:ext cx="4041775" cy="1809666"/>
          </a:xfrm>
          <a:effectLst>
            <a:glow rad="139700">
              <a:schemeClr val="accent1">
                <a:satMod val="175000"/>
                <a:alpha val="40000"/>
              </a:schemeClr>
            </a:glow>
          </a:effectLst>
        </p:spPr>
        <p:txBody>
          <a:bodyPr>
            <a:normAutofit/>
          </a:bodyPr>
          <a:lstStyle/>
          <a:p>
            <a:pPr marL="0" indent="0">
              <a:buNone/>
            </a:pPr>
            <a:r>
              <a:rPr lang="en-US" sz="1600" b="1" dirty="0">
                <a:latin typeface="Times New Roman" panose="02020603050405020304" pitchFamily="18" charset="0"/>
                <a:cs typeface="Times New Roman" panose="02020603050405020304" pitchFamily="18" charset="0"/>
              </a:rPr>
              <a:t>Optimal Portfolio</a:t>
            </a:r>
          </a:p>
          <a:p>
            <a:pPr marL="0" indent="0">
              <a:buNone/>
            </a:pPr>
            <a:r>
              <a:rPr lang="en-US" sz="1600" dirty="0">
                <a:latin typeface="Times New Roman" panose="02020603050405020304" pitchFamily="18" charset="0"/>
                <a:cs typeface="Times New Roman" panose="02020603050405020304" pitchFamily="18" charset="0"/>
              </a:rPr>
              <a:t>Expected Return: 14.59%</a:t>
            </a:r>
          </a:p>
          <a:p>
            <a:pPr marL="0" indent="0">
              <a:buNone/>
            </a:pPr>
            <a:r>
              <a:rPr lang="en-US" sz="1600" dirty="0">
                <a:latin typeface="Times New Roman" panose="02020603050405020304" pitchFamily="18" charset="0"/>
                <a:cs typeface="Times New Roman" panose="02020603050405020304" pitchFamily="18" charset="0"/>
              </a:rPr>
              <a:t>Risk (Volatility): 6.31%</a:t>
            </a:r>
          </a:p>
          <a:p>
            <a:pPr marL="0" indent="0">
              <a:buNone/>
            </a:pPr>
            <a:r>
              <a:rPr lang="en-US" sz="1600" dirty="0">
                <a:latin typeface="Times New Roman" panose="02020603050405020304" pitchFamily="18" charset="0"/>
                <a:cs typeface="Times New Roman" panose="02020603050405020304" pitchFamily="18" charset="0"/>
              </a:rPr>
              <a:t>Sharpe Ratio: 2.31</a:t>
            </a:r>
          </a:p>
          <a:p>
            <a:pPr marL="0" indent="0">
              <a:buNone/>
            </a:pPr>
            <a:r>
              <a:rPr lang="en-US" sz="1600" dirty="0">
                <a:latin typeface="Times New Roman" panose="02020603050405020304" pitchFamily="18" charset="0"/>
                <a:cs typeface="Times New Roman" panose="02020603050405020304" pitchFamily="18" charset="0"/>
              </a:rPr>
              <a:t>5,000 Portfolios Simulated</a:t>
            </a:r>
          </a:p>
        </p:txBody>
      </p:sp>
      <p:sp>
        <p:nvSpPr>
          <p:cNvPr id="10" name="TextBox 9">
            <a:extLst>
              <a:ext uri="{FF2B5EF4-FFF2-40B4-BE49-F238E27FC236}">
                <a16:creationId xmlns:a16="http://schemas.microsoft.com/office/drawing/2014/main" id="{24011E6F-22F4-0A01-EE70-42C402B6E651}"/>
              </a:ext>
            </a:extLst>
          </p:cNvPr>
          <p:cNvSpPr txBox="1"/>
          <p:nvPr/>
        </p:nvSpPr>
        <p:spPr>
          <a:xfrm>
            <a:off x="4646614" y="3789947"/>
            <a:ext cx="4040186" cy="1754326"/>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Portfolio Allocation</a:t>
            </a:r>
          </a:p>
          <a:p>
            <a:r>
              <a:rPr lang="en-US" dirty="0">
                <a:latin typeface="Times New Roman" panose="02020603050405020304" pitchFamily="18" charset="0"/>
                <a:cs typeface="Times New Roman" panose="02020603050405020304" pitchFamily="18" charset="0"/>
              </a:rPr>
              <a:t>Fund 100025   → 39.24%</a:t>
            </a:r>
          </a:p>
          <a:p>
            <a:r>
              <a:rPr lang="en-US" dirty="0">
                <a:latin typeface="Times New Roman" panose="02020603050405020304" pitchFamily="18" charset="0"/>
                <a:cs typeface="Times New Roman" panose="02020603050405020304" pitchFamily="18" charset="0"/>
              </a:rPr>
              <a:t>Fund 101206   → 30.62%</a:t>
            </a:r>
          </a:p>
          <a:p>
            <a:r>
              <a:rPr lang="en-US" dirty="0">
                <a:latin typeface="Times New Roman" panose="02020603050405020304" pitchFamily="18" charset="0"/>
                <a:cs typeface="Times New Roman" panose="02020603050405020304" pitchFamily="18" charset="0"/>
              </a:rPr>
              <a:t>Fund 100033   → 20.78%</a:t>
            </a:r>
          </a:p>
          <a:p>
            <a:r>
              <a:rPr lang="en-US" dirty="0">
                <a:latin typeface="Times New Roman" panose="02020603050405020304" pitchFamily="18" charset="0"/>
                <a:cs typeface="Times New Roman" panose="02020603050405020304" pitchFamily="18" charset="0"/>
              </a:rPr>
              <a:t>Fund 101207   → 4.85%</a:t>
            </a:r>
          </a:p>
          <a:p>
            <a:r>
              <a:rPr lang="en-US" dirty="0">
                <a:latin typeface="Times New Roman" panose="02020603050405020304" pitchFamily="18" charset="0"/>
                <a:cs typeface="Times New Roman" panose="02020603050405020304" pitchFamily="18" charset="0"/>
              </a:rPr>
              <a:t>Fund 100016   → 4.51%</a:t>
            </a:r>
          </a:p>
        </p:txBody>
      </p:sp>
      <p:pic>
        <p:nvPicPr>
          <p:cNvPr id="3" name="Picture 2">
            <a:extLst>
              <a:ext uri="{FF2B5EF4-FFF2-40B4-BE49-F238E27FC236}">
                <a16:creationId xmlns:a16="http://schemas.microsoft.com/office/drawing/2014/main" id="{4D49441B-60A1-6765-4894-F949D29E8B5F}"/>
              </a:ext>
            </a:extLst>
          </p:cNvPr>
          <p:cNvPicPr>
            <a:picLocks noChangeAspect="1"/>
          </p:cNvPicPr>
          <p:nvPr/>
        </p:nvPicPr>
        <p:blipFill>
          <a:blip r:embed="rId4"/>
          <a:stretch>
            <a:fillRect/>
          </a:stretch>
        </p:blipFill>
        <p:spPr>
          <a:xfrm>
            <a:off x="8156448" y="0"/>
            <a:ext cx="987552" cy="98755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Conclusion &amp; Thank You</a:t>
            </a:r>
          </a:p>
        </p:txBody>
      </p:sp>
      <p:sp>
        <p:nvSpPr>
          <p:cNvPr id="4" name="Text Placeholder 3">
            <a:extLst>
              <a:ext uri="{FF2B5EF4-FFF2-40B4-BE49-F238E27FC236}">
                <a16:creationId xmlns:a16="http://schemas.microsoft.com/office/drawing/2014/main" id="{91653004-C608-673C-A43E-80A901D61232}"/>
              </a:ext>
            </a:extLst>
          </p:cNvPr>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Project Summary</a:t>
            </a:r>
          </a:p>
        </p:txBody>
      </p:sp>
      <p:sp>
        <p:nvSpPr>
          <p:cNvPr id="3" name="Content Placeholder 2"/>
          <p:cNvSpPr>
            <a:spLocks noGrp="1"/>
          </p:cNvSpPr>
          <p:nvPr>
            <p:ph sz="half" idx="2"/>
          </p:nvPr>
        </p:nvSpPr>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Successfully developed an end-to-end</a:t>
            </a:r>
          </a:p>
          <a:p>
            <a:pPr marL="0" indent="0">
              <a:buNone/>
            </a:pPr>
            <a:r>
              <a:rPr lang="en-US" dirty="0">
                <a:latin typeface="Times New Roman" panose="02020603050405020304" pitchFamily="18" charset="0"/>
                <a:cs typeface="Times New Roman" panose="02020603050405020304" pitchFamily="18" charset="0"/>
              </a:rPr>
              <a:t>Mutual Fund Analytics Platform integrating:</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Data Engineering</a:t>
            </a:r>
          </a:p>
          <a:p>
            <a:pPr marL="0" indent="0">
              <a:buNone/>
            </a:pPr>
            <a:r>
              <a:rPr lang="en-US" dirty="0">
                <a:latin typeface="Times New Roman" panose="02020603050405020304" pitchFamily="18" charset="0"/>
                <a:cs typeface="Times New Roman" panose="02020603050405020304" pitchFamily="18" charset="0"/>
              </a:rPr>
              <a:t>✓ Financial Analytics</a:t>
            </a:r>
          </a:p>
          <a:p>
            <a:pPr marL="0" indent="0">
              <a:buNone/>
            </a:pPr>
            <a:r>
              <a:rPr lang="en-US" dirty="0">
                <a:latin typeface="Times New Roman" panose="02020603050405020304" pitchFamily="18" charset="0"/>
                <a:cs typeface="Times New Roman" panose="02020603050405020304" pitchFamily="18" charset="0"/>
              </a:rPr>
              <a:t>✓ Business Intelligence</a:t>
            </a:r>
          </a:p>
          <a:p>
            <a:pPr marL="0" indent="0">
              <a:buNone/>
            </a:pPr>
            <a:r>
              <a:rPr lang="en-US" dirty="0">
                <a:latin typeface="Times New Roman" panose="02020603050405020304" pitchFamily="18" charset="0"/>
                <a:cs typeface="Times New Roman" panose="02020603050405020304" pitchFamily="18" charset="0"/>
              </a:rPr>
              <a:t>✓ Machine Learning</a:t>
            </a:r>
          </a:p>
          <a:p>
            <a:pPr marL="0" indent="0">
              <a:buNone/>
            </a:pPr>
            <a:r>
              <a:rPr lang="en-US" dirty="0">
                <a:latin typeface="Times New Roman" panose="02020603050405020304" pitchFamily="18" charset="0"/>
                <a:cs typeface="Times New Roman" panose="02020603050405020304" pitchFamily="18" charset="0"/>
              </a:rPr>
              <a:t>✓ Portfolio Optimization</a:t>
            </a:r>
          </a:p>
          <a:p>
            <a:pPr marL="0" indent="0">
              <a:buNone/>
            </a:pPr>
            <a:r>
              <a:rPr lang="en-US" dirty="0">
                <a:latin typeface="Times New Roman" panose="02020603050405020304" pitchFamily="18" charset="0"/>
                <a:cs typeface="Times New Roman" panose="02020603050405020304" pitchFamily="18" charset="0"/>
              </a:rPr>
              <a:t>✓ Automated Reporting</a:t>
            </a:r>
            <a:endParaRPr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D0DBF2A1-1567-04FF-A4A3-125F5549FE7A}"/>
              </a:ext>
            </a:extLst>
          </p:cNvPr>
          <p:cNvSpPr>
            <a:spLocks noGrp="1"/>
          </p:cNvSpPr>
          <p:nvPr>
            <p:ph type="body" sz="quarter" idx="3"/>
          </p:nvPr>
        </p:nvSpPr>
        <p:spPr/>
        <p:txBody>
          <a:bodyPr/>
          <a:lstStyle/>
          <a:p>
            <a:r>
              <a:rPr lang="en-US" dirty="0">
                <a:latin typeface="Times New Roman" panose="02020603050405020304" pitchFamily="18" charset="0"/>
                <a:cs typeface="Times New Roman" panose="02020603050405020304" pitchFamily="18" charset="0"/>
              </a:rPr>
              <a:t>Key Achievements</a:t>
            </a:r>
          </a:p>
        </p:txBody>
      </p:sp>
      <p:sp>
        <p:nvSpPr>
          <p:cNvPr id="6" name="Content Placeholder 5">
            <a:extLst>
              <a:ext uri="{FF2B5EF4-FFF2-40B4-BE49-F238E27FC236}">
                <a16:creationId xmlns:a16="http://schemas.microsoft.com/office/drawing/2014/main" id="{0A6C6972-B460-A9A0-023B-ABB0A961F18D}"/>
              </a:ext>
            </a:extLst>
          </p:cNvPr>
          <p:cNvSpPr>
            <a:spLocks noGrp="1"/>
          </p:cNvSpPr>
          <p:nvPr>
            <p:ph sz="quarter" idx="4"/>
          </p:nvPr>
        </p:nvSpPr>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 10 Integrated Datasets</a:t>
            </a:r>
          </a:p>
          <a:p>
            <a:pPr marL="0" indent="0">
              <a:buNone/>
            </a:pPr>
            <a:r>
              <a:rPr lang="en-US" dirty="0">
                <a:latin typeface="Times New Roman" panose="02020603050405020304" pitchFamily="18" charset="0"/>
                <a:cs typeface="Times New Roman" panose="02020603050405020304" pitchFamily="18" charset="0"/>
              </a:rPr>
              <a:t>• 46,000+ NAV Records Processed</a:t>
            </a:r>
          </a:p>
          <a:p>
            <a:pPr marL="0" indent="0">
              <a:buNone/>
            </a:pPr>
            <a:r>
              <a:rPr lang="en-US" dirty="0">
                <a:latin typeface="Times New Roman" panose="02020603050405020304" pitchFamily="18" charset="0"/>
                <a:cs typeface="Times New Roman" panose="02020603050405020304" pitchFamily="18" charset="0"/>
              </a:rPr>
              <a:t>• 32,000+ Investor Transactions Analyzed</a:t>
            </a:r>
          </a:p>
          <a:p>
            <a:pPr marL="0" indent="0">
              <a:buNone/>
            </a:pPr>
            <a:r>
              <a:rPr lang="en-US" dirty="0">
                <a:latin typeface="Times New Roman" panose="02020603050405020304" pitchFamily="18" charset="0"/>
                <a:cs typeface="Times New Roman" panose="02020603050405020304" pitchFamily="18" charset="0"/>
              </a:rPr>
              <a:t>• Power BI Dashboard Developed</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Analytics Platform Developed</a:t>
            </a:r>
          </a:p>
          <a:p>
            <a:pPr marL="0" indent="0">
              <a:buNone/>
            </a:pPr>
            <a:r>
              <a:rPr lang="en-US" dirty="0">
                <a:latin typeface="Times New Roman" panose="02020603050405020304" pitchFamily="18" charset="0"/>
                <a:cs typeface="Times New Roman" panose="02020603050405020304" pitchFamily="18" charset="0"/>
              </a:rPr>
              <a:t>• ML Model (R² = 0.9058)</a:t>
            </a:r>
          </a:p>
          <a:p>
            <a:pPr marL="0" indent="0">
              <a:buNone/>
            </a:pPr>
            <a:r>
              <a:rPr lang="en-US" dirty="0">
                <a:latin typeface="Times New Roman" panose="02020603050405020304" pitchFamily="18" charset="0"/>
                <a:cs typeface="Times New Roman" panose="02020603050405020304" pitchFamily="18" charset="0"/>
              </a:rPr>
              <a:t>• Monte </a:t>
            </a:r>
            <a:r>
              <a:rPr lang="en-US">
                <a:latin typeface="Times New Roman" panose="02020603050405020304" pitchFamily="18" charset="0"/>
                <a:cs typeface="Times New Roman" panose="02020603050405020304" pitchFamily="18" charset="0"/>
              </a:rPr>
              <a:t>Carlo Forecasting</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Markowitz Portfolio Optimization</a:t>
            </a:r>
          </a:p>
        </p:txBody>
      </p:sp>
      <p:pic>
        <p:nvPicPr>
          <p:cNvPr id="7" name="Picture 6">
            <a:extLst>
              <a:ext uri="{FF2B5EF4-FFF2-40B4-BE49-F238E27FC236}">
                <a16:creationId xmlns:a16="http://schemas.microsoft.com/office/drawing/2014/main" id="{3FACD6B3-BA64-EDDD-8C5E-2AD64EA7C21E}"/>
              </a:ext>
            </a:extLst>
          </p:cNvPr>
          <p:cNvPicPr>
            <a:picLocks noChangeAspect="1"/>
          </p:cNvPicPr>
          <p:nvPr/>
        </p:nvPicPr>
        <p:blipFill>
          <a:blip r:embed="rId2"/>
          <a:stretch>
            <a:fillRect/>
          </a:stretch>
        </p:blipFill>
        <p:spPr>
          <a:xfrm>
            <a:off x="8156448" y="0"/>
            <a:ext cx="987552" cy="9875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686</Words>
  <Application>Microsoft Office PowerPoint</Application>
  <PresentationFormat>On-screen Show (4:3)</PresentationFormat>
  <Paragraphs>131</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Times New Roman</vt:lpstr>
      <vt:lpstr>Wingdings</vt:lpstr>
      <vt:lpstr>Office Theme</vt:lpstr>
      <vt:lpstr>Mutual Fund Analytics Platform</vt:lpstr>
      <vt:lpstr>Problem Statement &amp; Objectives</vt:lpstr>
      <vt:lpstr>Data Sources &amp; Project Scale</vt:lpstr>
      <vt:lpstr>System Architecture &amp; ETL</vt:lpstr>
      <vt:lpstr>Exploratory Data Analysis (EDA)</vt:lpstr>
      <vt:lpstr>Performance &amp; Risk Analytics</vt:lpstr>
      <vt:lpstr>Power BI Dashboard – Industry Overview &amp; Fund Performance</vt:lpstr>
      <vt:lpstr>Power BI Dashboard – Investor Analytics &amp; SIP Market Trends</vt:lpstr>
      <vt:lpstr>Streamlit Dashboard</vt:lpstr>
      <vt:lpstr>Machine Learning &amp; Forecasting Analytics</vt:lpstr>
      <vt:lpstr>Portfolio Optimization &amp; Key Findings</vt:lpstr>
      <vt:lpstr>Conclusion &amp; 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ASUS</dc:creator>
  <cp:keywords/>
  <dc:description>generated using python-pptx</dc:description>
  <cp:lastModifiedBy>Anushka Das</cp:lastModifiedBy>
  <cp:revision>8</cp:revision>
  <dcterms:created xsi:type="dcterms:W3CDTF">2013-01-27T09:14:16Z</dcterms:created>
  <dcterms:modified xsi:type="dcterms:W3CDTF">2026-06-12T19:22:26Z</dcterms:modified>
  <cp:category/>
</cp:coreProperties>
</file>